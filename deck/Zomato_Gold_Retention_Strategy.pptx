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Perceived value</c:v>
                </c:pt>
              </c:strCache>
            </c:strRef>
          </c:tx>
          <c:spPr>
            <a:solidFill>
              <a:srgbClr val="E8C766"/>
            </a:solidFill>
            <a:ln w="38100" cap="flat">
              <a:solidFill>
                <a:srgbClr val="E8C7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8C766"/>
              </a:solidFill>
              <a:ln w="9525" cap="flat">
                <a:solidFill>
                  <a:srgbClr val="E8C7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  <c:pt idx="5">
                    <c:v>Month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62</c:v>
                </c:pt>
                <c:pt idx="2">
                  <c:v>55</c:v>
                </c:pt>
                <c:pt idx="3">
                  <c:v>50</c:v>
                </c:pt>
                <c:pt idx="4">
                  <c:v>48</c:v>
                </c:pt>
                <c:pt idx="5">
                  <c:v>47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484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A2A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484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D1D20"/>
        </a:solidFill>
        <a:ln>
          <a:noFill/>
        </a:ln>
        <a:effectLst/>
      </c:spPr>
    </c:plotArea>
    <c:plotVisOnly val="1"/>
    <c:dispBlanksAs val="span"/>
  </c:chart>
  <c:spPr>
    <a:solidFill>
      <a:srgbClr val="1D1D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</a:t>
            </a:r>
            <a:pPr indent="0" marL="0">
              <a:buNone/>
            </a:pPr>
            <a:r>
              <a:rPr lang="en-US" sz="3128" b="1" spc="3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GOLD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481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CASE STUDY — MEMBERSHIP RETENTION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187452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discount pass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daily habit.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66928" y="388620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retention strategy to cut Zomato Gold's 45% three-month churn — grounded in primary research, prioritized with RICE, designed around the ecosystem Zomato already owns.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5806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VISIONARY VANGUARDS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Abhinav Jain  ·  Aryan Maan  ·  Manit Singh  ·  Mayank Gupta  ·  Soumyadeep Podder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360000">
            <a:off x="8476488" y="2487168"/>
            <a:ext cx="3200400" cy="1920240"/>
          </a:xfrm>
          <a:prstGeom prst="roundRect">
            <a:avLst>
              <a:gd name="adj" fmla="val 6667"/>
            </a:avLst>
          </a:prstGeom>
          <a:solidFill>
            <a:srgbClr val="1A1710"/>
          </a:solidFill>
          <a:ln w="9525">
            <a:solidFill>
              <a:srgbClr val="3A332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66760" y="2103120"/>
            <a:ext cx="3200400" cy="1920240"/>
          </a:xfrm>
          <a:prstGeom prst="roundRect">
            <a:avLst>
              <a:gd name="adj" fmla="val 6667"/>
            </a:avLst>
          </a:prstGeom>
          <a:solidFill>
            <a:srgbClr val="2A2418"/>
          </a:solidFill>
          <a:ln w="15240">
            <a:solidFill>
              <a:srgbClr val="C9A22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22792" y="2340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</a:t>
            </a:r>
            <a:pPr indent="0" marL="0">
              <a:buNone/>
            </a:pPr>
            <a:r>
              <a:rPr lang="en-US" sz="1472" b="1" spc="3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GOLD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2322576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22792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ARYAN MAAN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22792" y="34930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 ·  RENEWS MONTHLY?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75320" y="4617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45% of members walk away from.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509857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15098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in 2026 — an ecosystem, not an app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Eternal's four verticals give Zomato the widest consumer surface in Indian food-tech.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" y="1883664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₹23,450 Cr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68096" y="24505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revenue, FY26E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8096" y="2734056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Motilal Oswal / CLSA est.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73736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84448" y="1883664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32.5 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84448" y="24505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transacting users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84448" y="2734056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platform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99632" y="173736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883664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0" y="24505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Food-delivery market share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2734056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Swiggy at ~40%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15984" y="173736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17152" y="1883664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₹2,850 Cr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217152" y="24505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profit, FY25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17152" y="2734056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at scale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33101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3547872"/>
            <a:ext cx="512064" cy="512064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3686129"/>
            <a:ext cx="235549" cy="23554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86384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Delivery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86384" y="4480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₹9,200 Cr revenue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86384" y="4791456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engine — where Gold lives today.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383280" y="33101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602736" y="3547872"/>
            <a:ext cx="512064" cy="512064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993" y="3686129"/>
            <a:ext cx="235549" cy="235549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602736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Hyperpure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3602736" y="4480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₹8,500 Cr revenue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3602736" y="4791456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supply backbone for 3L+ restaurant partners.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199632" y="33101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419088" y="3547872"/>
            <a:ext cx="512064" cy="512064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345" y="3686129"/>
            <a:ext cx="235549" cy="235549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419088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6419088" y="4480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₹35,000 Cr+ GOV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6419088" y="4791456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commerce, 2,000+ dark stores. A weekly habit.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9015984" y="33101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9235440" y="3547872"/>
            <a:ext cx="512064" cy="512064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3697" y="3686129"/>
            <a:ext cx="235549" cy="235549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23544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</a:t>
            </a:r>
            <a:endParaRPr lang="en-US" sz="1400" dirty="0"/>
          </a:p>
        </p:txBody>
      </p:sp>
      <p:sp>
        <p:nvSpPr>
          <p:cNvPr id="46" name="Text 40"/>
          <p:cNvSpPr/>
          <p:nvPr/>
        </p:nvSpPr>
        <p:spPr>
          <a:xfrm>
            <a:off x="9235440" y="4480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Dining · events · tickets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9235440" y="4791456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Going-out super-app driving ecosystem lock-in.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566928" y="5870448"/>
            <a:ext cx="11027664" cy="512064"/>
          </a:xfrm>
          <a:prstGeom prst="roundRect">
            <a:avLst>
              <a:gd name="adj" fmla="val 16071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Text 43"/>
          <p:cNvSpPr/>
          <p:nvPr/>
        </p:nvSpPr>
        <p:spPr>
          <a:xfrm>
            <a:off x="795528" y="58704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setup:  </a:t>
            </a:r>
            <a:pPr indent="0" marL="0">
              <a:buNone/>
            </a:pPr>
            <a:r>
              <a:rPr lang="en-US" sz="11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owns groceries, dining and events — yet Gold monetizes only food delivery. That gap is the story of this deck.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878543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1878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wins the sign-up — then loses the renewal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Perceived value collapses in month 2, long before the renewal decision.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2047524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44675"/>
            <a:ext cx="20475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₹1–₹399 DYNAMIC ENTRY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2468" y="1755648"/>
            <a:ext cx="2134575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2468" y="1744675"/>
            <a:ext cx="2134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DELIVERY OVER ₹99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05060" y="1755648"/>
            <a:ext cx="1612270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5060" y="1744675"/>
            <a:ext cx="16122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DINING DISCOUNTS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45346" y="1755648"/>
            <a:ext cx="1438168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5346" y="1744675"/>
            <a:ext cx="1438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PERKS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6928" y="2212848"/>
            <a:ext cx="5989320" cy="3246120"/>
          </a:xfrm>
          <a:prstGeom prst="roundRect">
            <a:avLst>
              <a:gd name="adj" fmla="val 253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" y="23774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PERCEIVED VALUE OF GOLD BY MEMBERSHIP MONTH  (SURVEY INDEX)</a:t>
            </a:r>
            <a:endParaRPr lang="en-US" sz="9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04088" y="2670048"/>
          <a:ext cx="5669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784848" y="2212848"/>
            <a:ext cx="4809744" cy="2103120"/>
          </a:xfrm>
          <a:prstGeom prst="roundRect">
            <a:avLst>
              <a:gd name="adj" fmla="val 3913"/>
            </a:avLst>
          </a:prstGeom>
          <a:solidFill>
            <a:srgbClr val="2A181A"/>
          </a:solidFill>
          <a:ln w="9525">
            <a:solidFill>
              <a:srgbClr val="4A222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40880" y="239572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5400" dirty="0"/>
          </a:p>
        </p:txBody>
      </p:sp>
      <p:sp>
        <p:nvSpPr>
          <p:cNvPr id="21" name="Text 18"/>
          <p:cNvSpPr/>
          <p:nvPr/>
        </p:nvSpPr>
        <p:spPr>
          <a:xfrm>
            <a:off x="7040880" y="32735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Gold members do not renew after month 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040880" y="36393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reason #1: “Didn't order enough to justify it.”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784848" y="4498848"/>
            <a:ext cx="2340864" cy="960120"/>
          </a:xfrm>
          <a:prstGeom prst="roundRect">
            <a:avLst>
              <a:gd name="adj" fmla="val 8571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986016" y="4645152"/>
            <a:ext cx="1938528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6986016" y="499811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delivery perks only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253728" y="4498848"/>
            <a:ext cx="2340864" cy="960120"/>
          </a:xfrm>
          <a:prstGeom prst="roundRect">
            <a:avLst>
              <a:gd name="adj" fmla="val 8571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454896" y="4645152"/>
            <a:ext cx="1938528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9454896" y="499811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sharpest value drop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66928" y="5705856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232327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22960" y="570585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  </a:t>
            </a:r>
            <a:pPr indent="0" marL="0">
              <a:buNone/>
            </a:pPr>
            <a:r>
              <a:rPr lang="en-US" sz="12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Gold from a transactional discount into an everyday membership members refuse to cancel?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602029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16020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RESEARCH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investigated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Mixed-method research across the full membership lifecycle — sign-up to churn.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2670048" cy="3566160"/>
          </a:xfrm>
          <a:prstGeom prst="roundRect">
            <a:avLst>
              <a:gd name="adj" fmla="val 3082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2505456" y="2029968"/>
            <a:ext cx="512064" cy="512064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3713" y="2168225"/>
            <a:ext cx="235549" cy="23554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6384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survey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6384" y="310896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Gold users — active, churned and expired — across Delhi NCR.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6384" y="4919472"/>
            <a:ext cx="2523744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" y="4908499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PRICING, USAGE, RENEWAL INTENT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383280" y="1828800"/>
            <a:ext cx="2670048" cy="3566160"/>
          </a:xfrm>
          <a:prstGeom prst="roundRect">
            <a:avLst>
              <a:gd name="adj" fmla="val 3082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56616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8" name="Shape 15"/>
          <p:cNvSpPr/>
          <p:nvPr/>
        </p:nvSpPr>
        <p:spPr>
          <a:xfrm>
            <a:off x="5321808" y="2029968"/>
            <a:ext cx="512064" cy="512064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065" y="2168225"/>
            <a:ext cx="235549" cy="23554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02736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602736" y="310896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respondents into 4 archetypes by frequency, spend and motivation.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602736" y="4919472"/>
            <a:ext cx="2139696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02736" y="4908499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POWER USERS · 2 AT-RISK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6199632" y="1828800"/>
            <a:ext cx="2670048" cy="3566160"/>
          </a:xfrm>
          <a:prstGeom prst="roundRect">
            <a:avLst>
              <a:gd name="adj" fmla="val 3082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6382512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26" name="Shape 22"/>
          <p:cNvSpPr/>
          <p:nvPr/>
        </p:nvSpPr>
        <p:spPr>
          <a:xfrm>
            <a:off x="8138160" y="2029968"/>
            <a:ext cx="512064" cy="512064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417" y="2168225"/>
            <a:ext cx="235549" cy="23554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19088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mapping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419088" y="310896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Traced 11 touchpoints from discovery to renewal; scored drop-off risk at each.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419088" y="4919472"/>
            <a:ext cx="2062886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19088" y="4908499"/>
            <a:ext cx="2062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= CRITICAL LEAK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9015984" y="1828800"/>
            <a:ext cx="2670048" cy="3566160"/>
          </a:xfrm>
          <a:prstGeom prst="roundRect">
            <a:avLst>
              <a:gd name="adj" fmla="val 3082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9198864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34" name="Shape 29"/>
          <p:cNvSpPr/>
          <p:nvPr/>
        </p:nvSpPr>
        <p:spPr>
          <a:xfrm>
            <a:off x="10954512" y="2029968"/>
            <a:ext cx="512064" cy="512064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2769" y="2168225"/>
            <a:ext cx="235549" cy="235549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235440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9235440" y="310896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Gold vs. Swiggy One, EatSure Elite, ONDC and QSR loyalty programs.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9235440" y="4919472"/>
            <a:ext cx="1832458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235440" y="4908499"/>
            <a:ext cx="1832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GAP EXPOSED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566928" y="5705856"/>
            <a:ext cx="11027664" cy="548640"/>
          </a:xfrm>
          <a:prstGeom prst="roundRect">
            <a:avLst>
              <a:gd name="adj" fmla="val 15000"/>
            </a:avLst>
          </a:prstGeom>
          <a:solidFill>
            <a:srgbClr val="232327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Text 35"/>
          <p:cNvSpPr/>
          <p:nvPr/>
        </p:nvSpPr>
        <p:spPr>
          <a:xfrm>
            <a:off x="822960" y="57058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 note:  </a:t>
            </a:r>
            <a:pPr indent="0" marL="0"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problem taken forward is validated by at least two methods — survey signal + journey or benchmark evidence.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602029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16020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71 members told 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signals that explain the churn — and point at what to build.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3639312" cy="1847088"/>
          </a:xfrm>
          <a:prstGeom prst="roundRect">
            <a:avLst>
              <a:gd name="adj" fmla="val 445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" y="1929384"/>
            <a:ext cx="3236976" cy="775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68096" y="2743566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orders are under ₹500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8096" y="3027030"/>
            <a:ext cx="3236976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meals dominate — thresholds punish the core use case.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52544" y="1783080"/>
            <a:ext cx="3639312" cy="1847088"/>
          </a:xfrm>
          <a:prstGeom prst="roundRect">
            <a:avLst>
              <a:gd name="adj" fmla="val 445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53712" y="1929384"/>
            <a:ext cx="3236976" cy="775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53712" y="2743566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weekly or more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53712" y="3027030"/>
            <a:ext cx="3236976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users: huge LTV, easily lost.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639312" cy="1847088"/>
          </a:xfrm>
          <a:prstGeom prst="roundRect">
            <a:avLst>
              <a:gd name="adj" fmla="val 445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9328" y="1929384"/>
            <a:ext cx="3236976" cy="775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39328" y="2743566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Swiggy side-by-side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39328" y="3027030"/>
            <a:ext cx="3236976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lock-in. Every order is re-shopped.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776472"/>
            <a:ext cx="3639312" cy="1847088"/>
          </a:xfrm>
          <a:prstGeom prst="roundRect">
            <a:avLst>
              <a:gd name="adj" fmla="val 445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" y="3922776"/>
            <a:ext cx="3236976" cy="775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68096" y="473695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after 3 months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68096" y="5020422"/>
            <a:ext cx="3236976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“Didn't order enough to justify it.”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52544" y="3776472"/>
            <a:ext cx="3639312" cy="1847088"/>
          </a:xfrm>
          <a:prstGeom prst="roundRect">
            <a:avLst>
              <a:gd name="adj" fmla="val 445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53712" y="3922776"/>
            <a:ext cx="3236976" cy="775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553712" y="473695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peak value drop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53712" y="5020422"/>
            <a:ext cx="3236976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fades before habit forms.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38160" y="3776472"/>
            <a:ext cx="3639312" cy="1847088"/>
          </a:xfrm>
          <a:prstGeom prst="roundRect">
            <a:avLst>
              <a:gd name="adj" fmla="val 445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39328" y="3922776"/>
            <a:ext cx="3236976" cy="775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339328" y="473695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delivery perks only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39328" y="5020422"/>
            <a:ext cx="3236976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&amp; District benefits go unseen.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5806440"/>
            <a:ext cx="11027664" cy="566928"/>
          </a:xfrm>
          <a:prstGeom prst="roundRect">
            <a:avLst>
              <a:gd name="adj" fmla="val 14516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insight:  </a:t>
            </a:r>
            <a:pPr indent="0" marL="0">
              <a:buNone/>
            </a:pPr>
            <a:r>
              <a:rPr lang="en-US" sz="11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is being used as a coupon, not a membership. Members re-shop every order because nothing makes staying obviously better.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08087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27080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WHO WE'RE LOSING — 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 users Gold strains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members who want to stay — and are being made to work for it.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5504688" cy="4434840"/>
          </a:xfrm>
          <a:prstGeom prst="roundRect">
            <a:avLst>
              <a:gd name="adj" fmla="val 1856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011680"/>
            <a:ext cx="548640" cy="54864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15981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81328" y="20299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Rohan Sharma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81328" y="23408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BUDGET STUDENT · 4–6 ORDERS/WK · AOV ₹150–300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4672" y="272491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order almost every day, but the ₹99 minimum makes me spend more than I actually need.”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4672" y="3364992"/>
            <a:ext cx="1627632" cy="603504"/>
          </a:xfrm>
          <a:prstGeom prst="roundRect">
            <a:avLst>
              <a:gd name="adj" fmla="val 10606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Gold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96112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560320" y="3364992"/>
            <a:ext cx="1627632" cy="603504"/>
          </a:xfrm>
          <a:prstGeom prst="roundRect">
            <a:avLst>
              <a:gd name="adj" fmla="val 10606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user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651760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TYPE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315968" y="3364992"/>
            <a:ext cx="1627632" cy="603504"/>
          </a:xfrm>
          <a:prstGeom prst="roundRect">
            <a:avLst>
              <a:gd name="adj" fmla="val 10606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07408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savings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407408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DRIVER</a:t>
            </a:r>
            <a:endParaRPr lang="en-US" sz="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169664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60704" y="4160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22960" y="4443984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₹99 min cart forces over-ordering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+ surge fees erode savings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student-focused plan</a:t>
            </a:r>
            <a:endParaRPr lang="en-US" sz="9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169664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730752" y="4160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DA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493008" y="4443984"/>
            <a:ext cx="2432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Threshold-free solo orders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final pricing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for frequent small orders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309360" y="1783080"/>
            <a:ext cx="5504688" cy="4434840"/>
          </a:xfrm>
          <a:prstGeom prst="roundRect">
            <a:avLst>
              <a:gd name="adj" fmla="val 1856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547104" y="2011680"/>
            <a:ext cx="548640" cy="54864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237" y="2159813"/>
            <a:ext cx="252374" cy="25237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223760" y="20299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Anjali Verma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223760" y="23408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BUSY PROFESSIONAL · 5–7 ORDERS/WK · AOV ₹500–800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547104" y="272491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pay for Gold to save time — hidden charges and delayed deliveries reduce its value.”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6547104" y="3364992"/>
            <a:ext cx="1627632" cy="603504"/>
          </a:xfrm>
          <a:prstGeom prst="roundRect">
            <a:avLst>
              <a:gd name="adj" fmla="val 10606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638544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Gold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6638544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00" dirty="0"/>
          </a:p>
        </p:txBody>
      </p:sp>
      <p:sp>
        <p:nvSpPr>
          <p:cNvPr id="38" name="Shape 32"/>
          <p:cNvSpPr/>
          <p:nvPr/>
        </p:nvSpPr>
        <p:spPr>
          <a:xfrm>
            <a:off x="8302752" y="3364992"/>
            <a:ext cx="1627632" cy="603504"/>
          </a:xfrm>
          <a:prstGeom prst="roundRect">
            <a:avLst>
              <a:gd name="adj" fmla="val 10606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8394192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user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8394192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TYPE</a:t>
            </a:r>
            <a:endParaRPr lang="en-US" sz="700" dirty="0"/>
          </a:p>
        </p:txBody>
      </p:sp>
      <p:sp>
        <p:nvSpPr>
          <p:cNvPr id="41" name="Shape 35"/>
          <p:cNvSpPr/>
          <p:nvPr/>
        </p:nvSpPr>
        <p:spPr>
          <a:xfrm>
            <a:off x="10058400" y="3364992"/>
            <a:ext cx="1627632" cy="603504"/>
          </a:xfrm>
          <a:prstGeom prst="roundRect">
            <a:avLst>
              <a:gd name="adj" fmla="val 10606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10149840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&amp; reliability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10149840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DRIVER</a:t>
            </a:r>
            <a:endParaRPr lang="en-US" sz="7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4169664"/>
            <a:ext cx="182880" cy="18288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6803136" y="4160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6565392" y="4443984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Peak-hour delays wreck lunch breaks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platform &amp; surge fees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is a chatbot loop</a:t>
            </a:r>
            <a:endParaRPr lang="en-US" sz="95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7152" y="4169664"/>
            <a:ext cx="182880" cy="18288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9473184" y="4160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DA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9235440" y="4443984"/>
            <a:ext cx="2432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delivery-time promise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human support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premium treatment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800259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28002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WHO WE'RE LOSING — II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members already halfway out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churned to Swiggy One; one is active but sees none of Gold's wider value.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5504688" cy="4434840"/>
          </a:xfrm>
          <a:prstGeom prst="roundRect">
            <a:avLst>
              <a:gd name="adj" fmla="val 1856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011680"/>
            <a:ext cx="548640" cy="54864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15981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81328" y="20299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Rahul Singh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81328" y="23408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PRICE CHECKER · CHURNED TO SWIGGY ONE · AOV ₹300–500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4672" y="272491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don't care which app I use — I simply order from the one offering the lowest final price.”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4672" y="3364992"/>
            <a:ext cx="1627632" cy="603504"/>
          </a:xfrm>
          <a:prstGeom prst="roundRect">
            <a:avLst>
              <a:gd name="adj" fmla="val 10606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96112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560320" y="3364992"/>
            <a:ext cx="1627632" cy="603504"/>
          </a:xfrm>
          <a:prstGeom prst="roundRect">
            <a:avLst>
              <a:gd name="adj" fmla="val 10606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651760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TYPE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315968" y="3364992"/>
            <a:ext cx="1627632" cy="603504"/>
          </a:xfrm>
          <a:prstGeom prst="roundRect">
            <a:avLst>
              <a:gd name="adj" fmla="val 10606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07408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final price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407408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DRIVER</a:t>
            </a:r>
            <a:endParaRPr lang="en-US" sz="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169664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60704" y="4160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22960" y="4443984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Swiggy's final price is often lower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charges reduce trust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discounts, zero loyalty</a:t>
            </a:r>
            <a:endParaRPr lang="en-US" sz="9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169664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730752" y="4160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DA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493008" y="4443984"/>
            <a:ext cx="2432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Price-match confidence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checkout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 not to re-shop each order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309360" y="1783080"/>
            <a:ext cx="5504688" cy="4434840"/>
          </a:xfrm>
          <a:prstGeom prst="roundRect">
            <a:avLst>
              <a:gd name="adj" fmla="val 1856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547104" y="2011680"/>
            <a:ext cx="548640" cy="54864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237" y="2159813"/>
            <a:ext cx="252374" cy="25237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223760" y="20299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Sneha Kapoor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223760" y="23408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DINING EXPLORER · ORDERS DAILY · AOV ₹150–300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547104" y="272491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don't just want food discounts — I want dining experiences and exclusive perks.”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6547104" y="3364992"/>
            <a:ext cx="1627632" cy="603504"/>
          </a:xfrm>
          <a:prstGeom prst="roundRect">
            <a:avLst>
              <a:gd name="adj" fmla="val 10606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638544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Gold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6638544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00" dirty="0"/>
          </a:p>
        </p:txBody>
      </p:sp>
      <p:sp>
        <p:nvSpPr>
          <p:cNvPr id="38" name="Shape 32"/>
          <p:cNvSpPr/>
          <p:nvPr/>
        </p:nvSpPr>
        <p:spPr>
          <a:xfrm>
            <a:off x="8302752" y="3364992"/>
            <a:ext cx="1627632" cy="603504"/>
          </a:xfrm>
          <a:prstGeom prst="roundRect">
            <a:avLst>
              <a:gd name="adj" fmla="val 10606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8394192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8394192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TYPE</a:t>
            </a:r>
            <a:endParaRPr lang="en-US" sz="700" dirty="0"/>
          </a:p>
        </p:txBody>
      </p:sp>
      <p:sp>
        <p:nvSpPr>
          <p:cNvPr id="41" name="Shape 35"/>
          <p:cNvSpPr/>
          <p:nvPr/>
        </p:nvSpPr>
        <p:spPr>
          <a:xfrm>
            <a:off x="10058400" y="3364992"/>
            <a:ext cx="1627632" cy="603504"/>
          </a:xfrm>
          <a:prstGeom prst="roundRect">
            <a:avLst>
              <a:gd name="adj" fmla="val 10606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10149840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Experiences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10149840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DRIVER</a:t>
            </a:r>
            <a:endParaRPr lang="en-US" sz="7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4169664"/>
            <a:ext cx="182880" cy="18288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6803136" y="4160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6565392" y="4443984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feels delivery-only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&amp; dining perks invisible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feel generic</a:t>
            </a:r>
            <a:endParaRPr lang="en-US" sz="95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7152" y="4169664"/>
            <a:ext cx="182880" cy="18288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9473184" y="4160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DA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9235440" y="4443984"/>
            <a:ext cx="2432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Experience-led benefits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dining suggestions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Perks beyond the food order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509857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15098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JOURNEY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journey leaks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touchpoints mapped; the money walks out at price-check, cart — and quietly after the order.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1280160" cy="2148840"/>
          </a:xfrm>
          <a:prstGeom prst="roundRect">
            <a:avLst>
              <a:gd name="adj" fmla="val 6429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9848" y="1993392"/>
            <a:ext cx="274320" cy="274320"/>
          </a:xfrm>
          <a:prstGeom prst="ellipse">
            <a:avLst/>
          </a:prstGeom>
          <a:solidFill>
            <a:srgbClr val="3DA678"/>
          </a:solidFill>
          <a:ln w="12700">
            <a:solidFill>
              <a:srgbClr val="3DA6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670048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Gold worth it?”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358444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3DA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56816" y="1828800"/>
            <a:ext cx="1280160" cy="2148840"/>
          </a:xfrm>
          <a:prstGeom prst="roundRect">
            <a:avLst>
              <a:gd name="adj" fmla="val 6429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9736" y="1993392"/>
            <a:ext cx="274320" cy="274320"/>
          </a:xfrm>
          <a:prstGeom prst="ellipse">
            <a:avLst/>
          </a:prstGeom>
          <a:solidFill>
            <a:srgbClr val="3DA678"/>
          </a:solidFill>
          <a:ln w="12700">
            <a:solidFill>
              <a:srgbClr val="3DA6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237744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29968" y="2670048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restaurant?”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29968" y="358444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3DA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346704" y="1828800"/>
            <a:ext cx="1280160" cy="2148840"/>
          </a:xfrm>
          <a:prstGeom prst="roundRect">
            <a:avLst>
              <a:gd name="adj" fmla="val 6429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9624" y="1993392"/>
            <a:ext cx="274320" cy="274320"/>
          </a:xfrm>
          <a:prstGeom prst="ellipse">
            <a:avLst/>
          </a:prstGeom>
          <a:solidFill>
            <a:srgbClr val="E0A43B"/>
          </a:solidFill>
          <a:ln w="12700">
            <a:solidFill>
              <a:srgbClr val="E0A4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9856" y="237744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19856" y="2670048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should I order?”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19856" y="358444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E0A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36592" y="1828800"/>
            <a:ext cx="1280160" cy="2148840"/>
          </a:xfrm>
          <a:prstGeom prst="roundRect">
            <a:avLst>
              <a:gd name="adj" fmla="val 6429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39512" y="1993392"/>
            <a:ext cx="274320" cy="274320"/>
          </a:xfrm>
          <a:prstGeom prst="ellipse">
            <a:avLst/>
          </a:prstGeom>
          <a:solidFill>
            <a:srgbClr val="E0A43B"/>
          </a:solidFill>
          <a:ln w="12700">
            <a:solidFill>
              <a:srgbClr val="E0A4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37744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items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9744" y="2670048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“Should I add more?”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9744" y="358444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E0A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126480" y="1828800"/>
            <a:ext cx="1280160" cy="2148840"/>
          </a:xfrm>
          <a:prstGeom prst="roundRect">
            <a:avLst>
              <a:gd name="adj" fmla="val 6429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29400" y="1993392"/>
            <a:ext cx="274320" cy="274320"/>
          </a:xfrm>
          <a:prstGeom prst="ellipse">
            <a:avLst/>
          </a:prstGeom>
          <a:solidFill>
            <a:srgbClr val="E0A43B"/>
          </a:solidFill>
          <a:ln w="12700">
            <a:solidFill>
              <a:srgbClr val="E0A4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237744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check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99632" y="2670048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“Will Gold apply?”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99632" y="358444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E0A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516368" y="1828800"/>
            <a:ext cx="1280160" cy="2148840"/>
          </a:xfrm>
          <a:prstGeom prst="roundRect">
            <a:avLst>
              <a:gd name="adj" fmla="val 6429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19288" y="1993392"/>
            <a:ext cx="274320" cy="274320"/>
          </a:xfrm>
          <a:prstGeom prst="ellipse">
            <a:avLst/>
          </a:prstGeom>
          <a:solidFill>
            <a:srgbClr val="E25555"/>
          </a:solidFill>
          <a:ln w="12700">
            <a:solidFill>
              <a:srgbClr val="E255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237744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check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589520" y="2670048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is the bill rising?”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0" y="358444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E2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906256" y="1828800"/>
            <a:ext cx="1280160" cy="2148840"/>
          </a:xfrm>
          <a:prstGeom prst="roundRect">
            <a:avLst>
              <a:gd name="adj" fmla="val 6429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409176" y="1993392"/>
            <a:ext cx="274320" cy="274320"/>
          </a:xfrm>
          <a:prstGeom prst="ellipse">
            <a:avLst/>
          </a:prstGeom>
          <a:solidFill>
            <a:srgbClr val="E25555"/>
          </a:solidFill>
          <a:ln w="12700">
            <a:solidFill>
              <a:srgbClr val="E255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79408" y="237744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979408" y="2670048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is Gold locked?”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979408" y="358444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E2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0296144" y="1828800"/>
            <a:ext cx="1280160" cy="2148840"/>
          </a:xfrm>
          <a:prstGeom prst="roundRect">
            <a:avLst>
              <a:gd name="adj" fmla="val 6429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799064" y="1993392"/>
            <a:ext cx="274320" cy="274320"/>
          </a:xfrm>
          <a:prstGeom prst="ellipse">
            <a:avLst/>
          </a:prstGeom>
          <a:solidFill>
            <a:srgbClr val="E0A43B"/>
          </a:solidFill>
          <a:ln w="12700">
            <a:solidFill>
              <a:srgbClr val="E0A4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69296" y="237744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Post-order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369296" y="2670048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“Was Gold worth it?”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369296" y="358444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E0A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66928" y="4224528"/>
            <a:ext cx="5413248" cy="1481328"/>
          </a:xfrm>
          <a:prstGeom prst="roundRect">
            <a:avLst>
              <a:gd name="adj" fmla="val 5556"/>
            </a:avLst>
          </a:prstGeom>
          <a:solidFill>
            <a:srgbClr val="2A181A"/>
          </a:solidFill>
          <a:ln w="9525">
            <a:solidFill>
              <a:srgbClr val="4A222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86384" y="4462272"/>
            <a:ext cx="457200" cy="457200"/>
          </a:xfrm>
          <a:prstGeom prst="ellipse">
            <a:avLst/>
          </a:prstGeom>
          <a:solidFill>
            <a:srgbClr val="331B1E"/>
          </a:solidFill>
          <a:ln w="9525">
            <a:solidFill>
              <a:srgbClr val="4A2226"/>
            </a:solidFill>
            <a:prstDash val="solid"/>
          </a:ln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4585716"/>
            <a:ext cx="210312" cy="210312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408176" y="4434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checkout cliff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1408176" y="473659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platform &amp; surge fees surface at price-check; the ₹99 barrier locks Gold at cart. Highest-intent moment, highest drop-off — users abandon or switch apps to compare.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181344" y="4224528"/>
            <a:ext cx="5413248" cy="1481328"/>
          </a:xfrm>
          <a:prstGeom prst="roundRect">
            <a:avLst>
              <a:gd name="adj" fmla="val 5556"/>
            </a:avLst>
          </a:prstGeom>
          <a:solidFill>
            <a:srgbClr val="2A181A"/>
          </a:solidFill>
          <a:ln w="9525">
            <a:solidFill>
              <a:srgbClr val="4A222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6400800" y="4462272"/>
            <a:ext cx="457200" cy="457200"/>
          </a:xfrm>
          <a:prstGeom prst="ellipse">
            <a:avLst/>
          </a:prstGeom>
          <a:solidFill>
            <a:srgbClr val="331B1E"/>
          </a:solidFill>
          <a:ln w="9525">
            <a:solidFill>
              <a:srgbClr val="4A2226"/>
            </a:solidFill>
            <a:prstDash val="solid"/>
          </a:ln>
        </p:spPr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244" y="4585716"/>
            <a:ext cx="210312" cy="210312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7022592" y="4434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silent post-order churn</a:t>
            </a:r>
            <a:endParaRPr lang="en-US" sz="1300" dirty="0"/>
          </a:p>
        </p:txBody>
      </p:sp>
      <p:sp>
        <p:nvSpPr>
          <p:cNvPr id="57" name="Text 53"/>
          <p:cNvSpPr/>
          <p:nvPr/>
        </p:nvSpPr>
        <p:spPr>
          <a:xfrm>
            <a:off x="7022592" y="473659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delivery, Gold disappears: no reminder of savings, no progress, no reason to renew. By month 2 the membership is invisible — and month 3 is the cancellation.</a:t>
            </a:r>
            <a:endParaRPr lang="en-US" sz="950" dirty="0"/>
          </a:p>
        </p:txBody>
      </p:sp>
      <p:sp>
        <p:nvSpPr>
          <p:cNvPr id="58" name="Shape 54"/>
          <p:cNvSpPr/>
          <p:nvPr/>
        </p:nvSpPr>
        <p:spPr>
          <a:xfrm>
            <a:off x="566928" y="5888736"/>
            <a:ext cx="11027664" cy="512064"/>
          </a:xfrm>
          <a:prstGeom prst="roundRect">
            <a:avLst>
              <a:gd name="adj" fmla="val 16071"/>
            </a:avLst>
          </a:prstGeom>
          <a:solidFill>
            <a:srgbClr val="232327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9" name="Text 55"/>
          <p:cNvSpPr/>
          <p:nvPr/>
        </p:nvSpPr>
        <p:spPr>
          <a:xfrm>
            <a:off x="822960" y="5888736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 </a:t>
            </a:r>
            <a:pPr indent="0" marL="0"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checkout friction alone treats the symptom. Retention needs Gold to matter between orders, not just at them.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694200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169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SYNTHESIS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problems surfaced. Four earn a bet.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on severity × frequency in the survey × strategic fit with Zomato's ecosystem.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2670048" cy="1810512"/>
          </a:xfrm>
          <a:prstGeom prst="roundRect">
            <a:avLst>
              <a:gd name="adj" fmla="val 4545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947672"/>
            <a:ext cx="420624" cy="420624"/>
          </a:xfrm>
          <a:prstGeom prst="ellipse">
            <a:avLst/>
          </a:prstGeom>
          <a:solidFill>
            <a:srgbClr val="352C14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376" y="2061240"/>
            <a:ext cx="193487" cy="19348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48256" y="200253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48256" y="199156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→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49808" y="2496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gap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9808" y="2788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One bundles food + Instamart; Gold covers food only.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83280" y="1783080"/>
            <a:ext cx="2670048" cy="1810512"/>
          </a:xfrm>
          <a:prstGeom prst="roundRect">
            <a:avLst>
              <a:gd name="adj" fmla="val 4545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66160" y="1947672"/>
            <a:ext cx="420624" cy="420624"/>
          </a:xfrm>
          <a:prstGeom prst="ellipse">
            <a:avLst/>
          </a:prstGeom>
          <a:solidFill>
            <a:srgbClr val="352C14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728" y="2061240"/>
            <a:ext cx="193487" cy="193487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64608" y="200253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64608" y="199156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→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566160" y="2496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Gold support lane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566160" y="2788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Chatbot-only support; rivals ship priority queues.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199632" y="1783080"/>
            <a:ext cx="2670048" cy="1810512"/>
          </a:xfrm>
          <a:prstGeom prst="roundRect">
            <a:avLst>
              <a:gd name="adj" fmla="val 4545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82512" y="1947672"/>
            <a:ext cx="420624" cy="420624"/>
          </a:xfrm>
          <a:prstGeom prst="ellipse">
            <a:avLst/>
          </a:prstGeom>
          <a:solidFill>
            <a:srgbClr val="352C14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80" y="2061240"/>
            <a:ext cx="193487" cy="193487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680960" y="200253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680960" y="199156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→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6382512" y="2496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Lunch-hour misses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382512" y="2788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40–50 min standard delivery breaks the office lunch window.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9015984" y="1783080"/>
            <a:ext cx="2670048" cy="1810512"/>
          </a:xfrm>
          <a:prstGeom prst="roundRect">
            <a:avLst>
              <a:gd name="adj" fmla="val 4545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198864" y="1947672"/>
            <a:ext cx="420624" cy="420624"/>
          </a:xfrm>
          <a:prstGeom prst="ellipse">
            <a:avLst/>
          </a:prstGeom>
          <a:solidFill>
            <a:srgbClr val="352C14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432" y="2061240"/>
            <a:ext cx="193487" cy="193487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10497312" y="200253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0497312" y="199156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→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9198864" y="2496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overload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9198864" y="2788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 options; 15 minutes of scrolling to pick one meal.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66928" y="3739896"/>
            <a:ext cx="2670048" cy="1810512"/>
          </a:xfrm>
          <a:prstGeom prst="roundRect">
            <a:avLst>
              <a:gd name="adj" fmla="val 454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49808" y="3904488"/>
            <a:ext cx="420624" cy="420624"/>
          </a:xfrm>
          <a:prstGeom prst="ellipse">
            <a:avLst/>
          </a:prstGeom>
          <a:solidFill>
            <a:srgbClr val="232327"/>
          </a:solidFill>
          <a:ln w="9525">
            <a:solidFill>
              <a:srgbClr val="34343A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76" y="4018056"/>
            <a:ext cx="193487" cy="193487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49808" y="4453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fees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749808" y="474573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+ surge charges appear late and erode trust.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3383280" y="3739896"/>
            <a:ext cx="2670048" cy="1810512"/>
          </a:xfrm>
          <a:prstGeom prst="roundRect">
            <a:avLst>
              <a:gd name="adj" fmla="val 454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3566160" y="3904488"/>
            <a:ext cx="420624" cy="420624"/>
          </a:xfrm>
          <a:prstGeom prst="ellipse">
            <a:avLst/>
          </a:prstGeom>
          <a:solidFill>
            <a:srgbClr val="232327"/>
          </a:solidFill>
          <a:ln w="9525">
            <a:solidFill>
              <a:srgbClr val="34343A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9728" y="4018056"/>
            <a:ext cx="193487" cy="193487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566160" y="4453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₹99 cart barrier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3566160" y="474573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orders forced to over-buy to unlock benefits.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199632" y="3739896"/>
            <a:ext cx="2670048" cy="1810512"/>
          </a:xfrm>
          <a:prstGeom prst="roundRect">
            <a:avLst>
              <a:gd name="adj" fmla="val 454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382512" y="3904488"/>
            <a:ext cx="420624" cy="420624"/>
          </a:xfrm>
          <a:prstGeom prst="ellipse">
            <a:avLst/>
          </a:prstGeom>
          <a:solidFill>
            <a:srgbClr val="232327"/>
          </a:solidFill>
          <a:ln w="9525">
            <a:solidFill>
              <a:srgbClr val="34343A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080" y="4018056"/>
            <a:ext cx="193487" cy="193487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6382512" y="4453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perks</a:t>
            </a:r>
            <a:endParaRPr lang="en-US" sz="1250" dirty="0"/>
          </a:p>
        </p:txBody>
      </p:sp>
      <p:sp>
        <p:nvSpPr>
          <p:cNvPr id="50" name="Text 41"/>
          <p:cNvSpPr/>
          <p:nvPr/>
        </p:nvSpPr>
        <p:spPr>
          <a:xfrm>
            <a:off x="6382512" y="474573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never touch Blinkit / District / dining benefits.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9015984" y="3739896"/>
            <a:ext cx="2670048" cy="1810512"/>
          </a:xfrm>
          <a:prstGeom prst="roundRect">
            <a:avLst>
              <a:gd name="adj" fmla="val 454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2" name="Shape 43"/>
          <p:cNvSpPr/>
          <p:nvPr/>
        </p:nvSpPr>
        <p:spPr>
          <a:xfrm>
            <a:off x="9198864" y="3904488"/>
            <a:ext cx="420624" cy="420624"/>
          </a:xfrm>
          <a:prstGeom prst="ellipse">
            <a:avLst/>
          </a:prstGeom>
          <a:solidFill>
            <a:srgbClr val="232327"/>
          </a:solidFill>
          <a:ln w="9525">
            <a:solidFill>
              <a:srgbClr val="34343A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2432" y="4018056"/>
            <a:ext cx="193487" cy="193487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9198864" y="4453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student plan</a:t>
            </a:r>
            <a:endParaRPr lang="en-US" sz="1250" dirty="0"/>
          </a:p>
        </p:txBody>
      </p:sp>
      <p:sp>
        <p:nvSpPr>
          <p:cNvPr id="55" name="Text 45"/>
          <p:cNvSpPr/>
          <p:nvPr/>
        </p:nvSpPr>
        <p:spPr>
          <a:xfrm>
            <a:off x="9198864" y="474573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Price-led students churn to cheaper rivals.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566928" y="5806440"/>
            <a:ext cx="11027664" cy="566928"/>
          </a:xfrm>
          <a:prstGeom prst="roundRect">
            <a:avLst>
              <a:gd name="adj" fmla="val 14516"/>
            </a:avLst>
          </a:prstGeom>
          <a:solidFill>
            <a:srgbClr val="232327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7" name="Text 47"/>
          <p:cNvSpPr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four:  </a:t>
            </a:r>
            <a:pPr indent="0" marL="0"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fees, thresholds and visibility are worth fixing — but they're table stakes. The four bets change what Gold is, not just what it costs.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602029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16020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bets to make Gold unquittable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bet pairs a validated problem with a solution only Zomato can ship at this scale.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27664" cy="1024128"/>
          </a:xfrm>
          <a:prstGeom prst="roundRect">
            <a:avLst>
              <a:gd name="adj" fmla="val 8036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002536"/>
            <a:ext cx="530352" cy="530352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003" y="2145731"/>
            <a:ext cx="243962" cy="24396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35608" y="19019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194560" y="190195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One out-values Gold with its food + grocery bundle.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5798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44768" y="19019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EVERYWHERE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522208" y="190195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membership across Zomato, Blinkit &amp; District — free grocery delivery, event perks, one gold badge everywhere.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66928" y="2889504"/>
            <a:ext cx="11027664" cy="1024128"/>
          </a:xfrm>
          <a:prstGeom prst="roundRect">
            <a:avLst>
              <a:gd name="adj" fmla="val 8036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9808" y="3136392"/>
            <a:ext cx="530352" cy="530352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03" y="3279587"/>
            <a:ext cx="243962" cy="2439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35608" y="30358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2194560" y="3035808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members get the same chatbot as everyone else.</a:t>
            </a:r>
            <a:endParaRPr lang="en-US" sz="10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29184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44768" y="30358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PRIORITY SUPPORT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522208" y="30358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human-first support lane with a 60-second pickup promise and auto-credit for order failures.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66928" y="4023360"/>
            <a:ext cx="11027664" cy="1024128"/>
          </a:xfrm>
          <a:prstGeom prst="roundRect">
            <a:avLst>
              <a:gd name="adj" fmla="val 8036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270248"/>
            <a:ext cx="530352" cy="530352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003" y="4413443"/>
            <a:ext cx="243962" cy="2439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35608" y="41696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3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194560" y="416966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40–50 min delivery doesn't fit a 60-minute lunch break.</a:t>
            </a:r>
            <a:endParaRPr lang="en-US" sz="10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4425696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144768" y="41696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EXPRESS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8522208" y="416966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30–35 minute promise on Express-eligible lunch orders — priority dispatch, no batching.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566928" y="5157216"/>
            <a:ext cx="11027664" cy="1024128"/>
          </a:xfrm>
          <a:prstGeom prst="roundRect">
            <a:avLst>
              <a:gd name="adj" fmla="val 8036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749808" y="5404104"/>
            <a:ext cx="530352" cy="530352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003" y="5547299"/>
            <a:ext cx="243962" cy="24396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435608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4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2194560" y="53035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options: members burn their break deciding.</a:t>
            </a:r>
            <a:endParaRPr lang="en-US" sz="105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5559552"/>
            <a:ext cx="219456" cy="21945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144768" y="5303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AI CONCIERGE</a:t>
            </a:r>
            <a:endParaRPr lang="en-US" sz="1250" dirty="0"/>
          </a:p>
        </p:txBody>
      </p:sp>
      <p:sp>
        <p:nvSpPr>
          <p:cNvPr id="39" name="Text 29"/>
          <p:cNvSpPr/>
          <p:nvPr/>
        </p:nvSpPr>
        <p:spPr>
          <a:xfrm>
            <a:off x="8522208" y="5303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 meal agent that knows your usuals, budget and break — one tap from craving to cart.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155058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2155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PRIORITIZATION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says: bundle first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(Reach × Impact × Confidence) ÷ Effort. Ecosystem bundling wins on reach and build cost.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8288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520440" y="18288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/10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434840" y="18288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/3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49240" y="18288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(PM)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269480" y="18288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SCORE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" y="2157984"/>
            <a:ext cx="10104120" cy="731520"/>
          </a:xfrm>
          <a:prstGeom prst="roundRect">
            <a:avLst>
              <a:gd name="adj" fmla="val 1125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" y="215798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Everywhere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15798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34840" y="215798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49240" y="215798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26480" y="215798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69480" y="2414016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480" y="2414016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E8C766"/>
          </a:solidFill>
          <a:ln w="12700">
            <a:solidFill>
              <a:srgbClr val="E8C7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10928" y="2157984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351008" y="239572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51008" y="2384755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FIRST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66928" y="2999232"/>
            <a:ext cx="10104120" cy="731520"/>
          </a:xfrm>
          <a:prstGeom prst="roundRect">
            <a:avLst>
              <a:gd name="adj" fmla="val 11250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6384" y="299923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299923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34840" y="299923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349240" y="299923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26480" y="299923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269480" y="3255264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9480" y="3255264"/>
            <a:ext cx="1056640" cy="219456"/>
          </a:xfrm>
          <a:prstGeom prst="roundRect">
            <a:avLst>
              <a:gd name="adj" fmla="val 50000"/>
            </a:avLst>
          </a:prstGeom>
          <a:solidFill>
            <a:srgbClr val="6E6E76"/>
          </a:solidFill>
          <a:ln w="12700">
            <a:solidFill>
              <a:srgbClr val="6E6E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10928" y="2999232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6928" y="3840480"/>
            <a:ext cx="10104120" cy="731520"/>
          </a:xfrm>
          <a:prstGeom prst="roundRect">
            <a:avLst>
              <a:gd name="adj" fmla="val 11250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86384" y="3840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Express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520440" y="38404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434840" y="38404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349240" y="38404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126480" y="38404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269480" y="4096512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69480" y="4096512"/>
            <a:ext cx="513644" cy="219456"/>
          </a:xfrm>
          <a:prstGeom prst="roundRect">
            <a:avLst>
              <a:gd name="adj" fmla="val 50000"/>
            </a:avLst>
          </a:prstGeom>
          <a:solidFill>
            <a:srgbClr val="6E6E76"/>
          </a:solidFill>
          <a:ln w="12700">
            <a:solidFill>
              <a:srgbClr val="6E6E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10928" y="38404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1.75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66928" y="4681728"/>
            <a:ext cx="10104120" cy="731520"/>
          </a:xfrm>
          <a:prstGeom prst="roundRect">
            <a:avLst>
              <a:gd name="adj" fmla="val 11250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86384" y="46817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Concierge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520440" y="468172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434840" y="468172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349240" y="468172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126480" y="468172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269480" y="4937760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69480" y="4937760"/>
            <a:ext cx="252420" cy="219456"/>
          </a:xfrm>
          <a:prstGeom prst="roundRect">
            <a:avLst>
              <a:gd name="adj" fmla="val 50000"/>
            </a:avLst>
          </a:prstGeom>
          <a:solidFill>
            <a:srgbClr val="6E6E76"/>
          </a:solidFill>
          <a:ln w="12700">
            <a:solidFill>
              <a:srgbClr val="6E6E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10928" y="4681728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66928" y="5650992"/>
            <a:ext cx="6675120" cy="749808"/>
          </a:xfrm>
          <a:prstGeom prst="roundRect">
            <a:avLst>
              <a:gd name="adj" fmla="val 10976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86384" y="5650992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winner wins: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and District are already Zomato-owned. Swiggy must operate Instamart to fund its bundle; Zomato only has to flip a membership flag. Integration, not construction.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52360" y="5650992"/>
            <a:ext cx="4142232" cy="749808"/>
          </a:xfrm>
          <a:prstGeom prst="roundRect">
            <a:avLst>
              <a:gd name="adj" fmla="val 10976"/>
            </a:avLst>
          </a:prstGeom>
          <a:solidFill>
            <a:srgbClr val="232327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671816" y="565099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— Reach: share of Gold base touched per quarter. Impact: 0.25–3 (Intercom scale). Confidence: evidence strength. Effort: person-months.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984602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2984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SOLUTION 1 · SHIP FIRST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Everywhere — one membership, three apps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Swiggy One's bundle with the ecosystem Zomato already owns.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084832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 of members re-shop every order and Swiggy One's grocery bundle is the #1 stated reason to switch. Zomato's unfair advantage: Blinkit and District are in-house. Extending Gold across them creates daily utility no rival can match without buying one.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090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3401568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3525012"/>
            <a:ext cx="210312" cy="2103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340156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Blinkit delivery  —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member orders over ₹199 — turns a weekly grocery run into a Gold habit.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4238244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411480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member pricing  —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waived convenience fees + early access on events and dining.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6928" y="4828032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951476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482803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Gold identity  —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badge, wallet and savings tracker across all three apps.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66928" y="5779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66928" y="6053328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16241E"/>
          </a:solidFill>
          <a:ln w="9525">
            <a:solidFill>
              <a:srgbClr val="25453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66928" y="6042355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MULTI-APP USAGE 35% → 60%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108960" y="6053328"/>
            <a:ext cx="1960474" cy="274320"/>
          </a:xfrm>
          <a:prstGeom prst="roundRect">
            <a:avLst>
              <a:gd name="adj" fmla="val 50000"/>
            </a:avLst>
          </a:prstGeom>
          <a:solidFill>
            <a:srgbClr val="16241E"/>
          </a:solidFill>
          <a:ln w="9525">
            <a:solidFill>
              <a:srgbClr val="25453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108960" y="6042355"/>
            <a:ext cx="19604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D90 RENEWAL +8–10 PP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5215738" y="6053328"/>
            <a:ext cx="1873423" cy="274320"/>
          </a:xfrm>
          <a:prstGeom prst="roundRect">
            <a:avLst>
              <a:gd name="adj" fmla="val 50000"/>
            </a:avLst>
          </a:prstGeom>
          <a:solidFill>
            <a:srgbClr val="16241E"/>
          </a:solidFill>
          <a:ln w="9525">
            <a:solidFill>
              <a:srgbClr val="25453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215738" y="6042355"/>
            <a:ext cx="18734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→ 4.4 ORDERS / MO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8092440" y="1737360"/>
            <a:ext cx="3063240" cy="4663440"/>
          </a:xfrm>
          <a:prstGeom prst="roundRect">
            <a:avLst>
              <a:gd name="adj" fmla="val 7164"/>
            </a:avLst>
          </a:prstGeom>
          <a:solidFill>
            <a:srgbClr val="0B0B0C"/>
          </a:solidFill>
          <a:ln w="19050">
            <a:solidFill>
              <a:srgbClr val="3E3E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174736" y="1819656"/>
            <a:ext cx="2898648" cy="4498848"/>
          </a:xfrm>
          <a:prstGeom prst="roundRect">
            <a:avLst>
              <a:gd name="adj" fmla="val 5363"/>
            </a:avLst>
          </a:prstGeom>
          <a:solidFill>
            <a:srgbClr val="18181B"/>
          </a:solidFill>
          <a:ln w="6350">
            <a:solidFill>
              <a:srgbClr val="26262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304020" y="1883664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430768" y="2167128"/>
            <a:ext cx="4114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</a:t>
            </a:r>
            <a:pPr indent="0" marL="0">
              <a:buNone/>
            </a:pPr>
            <a:r>
              <a:rPr lang="en-US" sz="1196" b="1" spc="3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GOLD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8375904" y="2532888"/>
            <a:ext cx="2496312" cy="914400"/>
          </a:xfrm>
          <a:prstGeom prst="roundRect">
            <a:avLst>
              <a:gd name="adj" fmla="val 10000"/>
            </a:avLst>
          </a:prstGeom>
          <a:solidFill>
            <a:srgbClr val="2A241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540496" y="2660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ARYAN M.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540496" y="28986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· ALL ACCESS</a:t>
            </a:r>
            <a:endParaRPr lang="en-US" sz="75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2679192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540496" y="3136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₹1,240 this month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8375904" y="3611880"/>
            <a:ext cx="2496312" cy="603504"/>
          </a:xfrm>
          <a:prstGeom prst="roundRect">
            <a:avLst>
              <a:gd name="adj" fmla="val 12121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3803904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869680" y="36941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8869680" y="39319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delivery · priority perks</a:t>
            </a:r>
            <a:endParaRPr lang="en-US" sz="750" dirty="0"/>
          </a:p>
        </p:txBody>
      </p:sp>
      <p:sp>
        <p:nvSpPr>
          <p:cNvPr id="40" name="Shape 33"/>
          <p:cNvSpPr/>
          <p:nvPr/>
        </p:nvSpPr>
        <p:spPr>
          <a:xfrm>
            <a:off x="8375904" y="4325112"/>
            <a:ext cx="2496312" cy="603504"/>
          </a:xfrm>
          <a:prstGeom prst="roundRect">
            <a:avLst>
              <a:gd name="adj" fmla="val 12121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517136"/>
            <a:ext cx="219456" cy="21945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869680" y="44074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8869680" y="4645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delivery over ₹199</a:t>
            </a:r>
            <a:endParaRPr lang="en-US" sz="750" dirty="0"/>
          </a:p>
        </p:txBody>
      </p:sp>
      <p:sp>
        <p:nvSpPr>
          <p:cNvPr id="44" name="Shape 36"/>
          <p:cNvSpPr/>
          <p:nvPr/>
        </p:nvSpPr>
        <p:spPr>
          <a:xfrm>
            <a:off x="8375904" y="5038344"/>
            <a:ext cx="2496312" cy="603504"/>
          </a:xfrm>
          <a:prstGeom prst="roundRect">
            <a:avLst>
              <a:gd name="adj" fmla="val 12121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2208" y="5230368"/>
            <a:ext cx="219456" cy="21945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869680" y="51206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</a:t>
            </a:r>
            <a:endParaRPr lang="en-US" sz="1050" dirty="0"/>
          </a:p>
        </p:txBody>
      </p:sp>
      <p:sp>
        <p:nvSpPr>
          <p:cNvPr id="47" name="Text 38"/>
          <p:cNvSpPr/>
          <p:nvPr/>
        </p:nvSpPr>
        <p:spPr>
          <a:xfrm>
            <a:off x="8869680" y="5358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pricing · early access</a:t>
            </a:r>
            <a:endParaRPr lang="en-US" sz="750" dirty="0"/>
          </a:p>
        </p:txBody>
      </p:sp>
      <p:sp>
        <p:nvSpPr>
          <p:cNvPr id="48" name="Text 39"/>
          <p:cNvSpPr/>
          <p:nvPr/>
        </p:nvSpPr>
        <p:spPr>
          <a:xfrm>
            <a:off x="8174736" y="5843016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MEMBERSHIP · THREE APPS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786372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17863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SOLUTION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Priority Support — a human in 60 seconds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members shouldn't queue behind free users when an order goes wrong.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084832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failure is the sharpest trust-breaker for high-LTV professionals — and Swiggy One already ships a priority queue. When a ₹800 dinner is late, a chatbot loop converts a Gold advocate into a churned member in one incident.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090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3401568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3525012"/>
            <a:ext cx="210312" cy="2103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340156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Gold lane  —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human-first queue for active-order issues, 60-second pickup promise.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4238244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411480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Auto-remediation  —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or cold order? Credit lands before the member has to ask.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6928" y="4828032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951476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482803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priority  —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chat shows the Gold lane working — queue position, agent ETA, resolution timer.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66928" y="5779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66928" y="6053328"/>
            <a:ext cx="1873423" cy="274320"/>
          </a:xfrm>
          <a:prstGeom prst="roundRect">
            <a:avLst>
              <a:gd name="adj" fmla="val 50000"/>
            </a:avLst>
          </a:prstGeom>
          <a:solidFill>
            <a:srgbClr val="16241E"/>
          </a:solidFill>
          <a:ln w="9525">
            <a:solidFill>
              <a:srgbClr val="25453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66928" y="6042355"/>
            <a:ext cx="18734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CSAT +20 PP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2586655" y="6053328"/>
            <a:ext cx="1960474" cy="274320"/>
          </a:xfrm>
          <a:prstGeom prst="roundRect">
            <a:avLst>
              <a:gd name="adj" fmla="val 50000"/>
            </a:avLst>
          </a:prstGeom>
          <a:solidFill>
            <a:srgbClr val="16241E"/>
          </a:solidFill>
          <a:ln w="9525">
            <a:solidFill>
              <a:srgbClr val="25453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586655" y="6042355"/>
            <a:ext cx="19604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BAD-ORDER CHURN −30%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693432" y="6053328"/>
            <a:ext cx="1699321" cy="274320"/>
          </a:xfrm>
          <a:prstGeom prst="roundRect">
            <a:avLst>
              <a:gd name="adj" fmla="val 50000"/>
            </a:avLst>
          </a:prstGeom>
          <a:solidFill>
            <a:srgbClr val="16241E"/>
          </a:solidFill>
          <a:ln w="9525">
            <a:solidFill>
              <a:srgbClr val="25453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693432" y="6042355"/>
            <a:ext cx="16993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&lt; 60 SEC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8092440" y="1737360"/>
            <a:ext cx="3063240" cy="4663440"/>
          </a:xfrm>
          <a:prstGeom prst="roundRect">
            <a:avLst>
              <a:gd name="adj" fmla="val 7164"/>
            </a:avLst>
          </a:prstGeom>
          <a:solidFill>
            <a:srgbClr val="0B0B0C"/>
          </a:solidFill>
          <a:ln w="19050">
            <a:solidFill>
              <a:srgbClr val="3E3E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174736" y="1819656"/>
            <a:ext cx="2898648" cy="4498848"/>
          </a:xfrm>
          <a:prstGeom prst="roundRect">
            <a:avLst>
              <a:gd name="adj" fmla="val 5363"/>
            </a:avLst>
          </a:prstGeom>
          <a:solidFill>
            <a:srgbClr val="18181B"/>
          </a:solidFill>
          <a:ln w="6350">
            <a:solidFill>
              <a:srgbClr val="26262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304020" y="1883664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430768" y="21488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Support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9902952" y="2148840"/>
            <a:ext cx="792968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902952" y="2137867"/>
            <a:ext cx="79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700" dirty="0"/>
          </a:p>
        </p:txBody>
      </p:sp>
      <p:sp>
        <p:nvSpPr>
          <p:cNvPr id="33" name="Shape 28"/>
          <p:cNvSpPr/>
          <p:nvPr/>
        </p:nvSpPr>
        <p:spPr>
          <a:xfrm>
            <a:off x="8723376" y="2551176"/>
            <a:ext cx="2148840" cy="512064"/>
          </a:xfrm>
          <a:prstGeom prst="roundRect">
            <a:avLst>
              <a:gd name="adj" fmla="val 17857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851392" y="2606040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order's 20 min late and no updates.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8375904" y="3209544"/>
            <a:ext cx="2148840" cy="804672"/>
          </a:xfrm>
          <a:prstGeom prst="roundRect">
            <a:avLst>
              <a:gd name="adj" fmla="val 11364"/>
            </a:avLst>
          </a:prstGeom>
          <a:solidFill>
            <a:srgbClr val="2A2418"/>
          </a:solidFill>
          <a:ln w="6350">
            <a:solidFill>
              <a:srgbClr val="4A3F1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522208" y="3319272"/>
            <a:ext cx="1892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#1 in the Gold lane.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Rhea joins in 30 seconds.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8375904" y="416052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16241E"/>
          </a:solidFill>
          <a:ln w="6350">
            <a:solidFill>
              <a:srgbClr val="254536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4379976"/>
            <a:ext cx="201168" cy="20116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796528" y="4251960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₹75 credit applied automatically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delay — no request needed.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8375904" y="5001768"/>
            <a:ext cx="2496312" cy="384048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375904" y="5020056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in 3 min 40 sec  ·  Rate Rhea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786372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17863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SOLUTION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Express — lunch in 30–35 minutes, promised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office lunch break a use case Zomato owns.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66960" y="457200"/>
            <a:ext cx="1448410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0" y="446227"/>
            <a:ext cx="1448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PILOT: 3 METROS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Anjali gets 60 minutes for lunch. At 40–50 minutes of delivery, eating becomes a gamble — so professionals default to the canteen. A kept 30–35 minute promise converts the highest-frequency daypart in food delivery into Gold's signature moment.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3401568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3525012"/>
            <a:ext cx="210312" cy="2103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8720" y="340156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Express-eligible selection  —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 within 2.5 km with under-15-min prep get the Express badge at lunch.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928" y="4114800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4238244"/>
            <a:ext cx="210312" cy="2103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88720" y="411480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dispatch  —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rider, no order batching, kitchen-ready timing for Gold Express orders.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66928" y="4828032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951476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482803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with teeth  —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arrives past 35 minutes? ₹50 credit lands automatically. Trust is the feature.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66928" y="5779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66928" y="6053328"/>
            <a:ext cx="1699321" cy="274320"/>
          </a:xfrm>
          <a:prstGeom prst="roundRect">
            <a:avLst>
              <a:gd name="adj" fmla="val 50000"/>
            </a:avLst>
          </a:prstGeom>
          <a:solidFill>
            <a:srgbClr val="16241E"/>
          </a:solidFill>
          <a:ln w="9525">
            <a:solidFill>
              <a:srgbClr val="25453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66928" y="6042355"/>
            <a:ext cx="16993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 ORDERS +15%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2412553" y="6053328"/>
            <a:ext cx="2134575" cy="274320"/>
          </a:xfrm>
          <a:prstGeom prst="roundRect">
            <a:avLst>
              <a:gd name="adj" fmla="val 50000"/>
            </a:avLst>
          </a:prstGeom>
          <a:solidFill>
            <a:srgbClr val="16241E"/>
          </a:solidFill>
          <a:ln w="9525">
            <a:solidFill>
              <a:srgbClr val="25453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412553" y="6042355"/>
            <a:ext cx="2134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PRO-PERSONA CHURN −25%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693432" y="6053328"/>
            <a:ext cx="1351117" cy="274320"/>
          </a:xfrm>
          <a:prstGeom prst="roundRect">
            <a:avLst>
              <a:gd name="adj" fmla="val 50000"/>
            </a:avLst>
          </a:prstGeom>
          <a:solidFill>
            <a:srgbClr val="16241E"/>
          </a:solidFill>
          <a:ln w="9525">
            <a:solidFill>
              <a:srgbClr val="25453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693432" y="6042355"/>
            <a:ext cx="13511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&gt; 95%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8092440" y="1737360"/>
            <a:ext cx="3063240" cy="4663440"/>
          </a:xfrm>
          <a:prstGeom prst="roundRect">
            <a:avLst>
              <a:gd name="adj" fmla="val 7164"/>
            </a:avLst>
          </a:prstGeom>
          <a:solidFill>
            <a:srgbClr val="0B0B0C"/>
          </a:solidFill>
          <a:ln w="19050">
            <a:solidFill>
              <a:srgbClr val="3E3E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174736" y="1819656"/>
            <a:ext cx="2898648" cy="4498848"/>
          </a:xfrm>
          <a:prstGeom prst="roundRect">
            <a:avLst>
              <a:gd name="adj" fmla="val 5363"/>
            </a:avLst>
          </a:prstGeom>
          <a:solidFill>
            <a:srgbClr val="18181B"/>
          </a:solidFill>
          <a:ln w="6350">
            <a:solidFill>
              <a:srgbClr val="26262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304020" y="1883664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375904" y="2130552"/>
            <a:ext cx="2496312" cy="1143000"/>
          </a:xfrm>
          <a:prstGeom prst="roundRect">
            <a:avLst>
              <a:gd name="adj" fmla="val 8000"/>
            </a:avLst>
          </a:prstGeom>
          <a:solidFill>
            <a:srgbClr val="121215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631936" y="3035808"/>
            <a:ext cx="1051560" cy="-566928"/>
          </a:xfrm>
          <a:prstGeom prst="line">
            <a:avLst/>
          </a:prstGeom>
          <a:noFill/>
          <a:ln w="25400">
            <a:solidFill>
              <a:srgbClr val="E8C766"/>
            </a:solidFill>
            <a:prstDash val="dash"/>
          </a:ln>
        </p:spPr>
      </p:sp>
      <p:sp>
        <p:nvSpPr>
          <p:cNvPr id="34" name="Shape 29"/>
          <p:cNvSpPr/>
          <p:nvPr/>
        </p:nvSpPr>
        <p:spPr>
          <a:xfrm>
            <a:off x="9683496" y="2468880"/>
            <a:ext cx="914400" cy="256032"/>
          </a:xfrm>
          <a:prstGeom prst="line">
            <a:avLst/>
          </a:prstGeom>
          <a:noFill/>
          <a:ln w="25400">
            <a:solidFill>
              <a:srgbClr val="E8C766"/>
            </a:solidFill>
            <a:prstDash val="dash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2331720"/>
            <a:ext cx="310896" cy="310896"/>
          </a:xfrm>
          <a:prstGeom prst="rect">
            <a:avLst/>
          </a:prstGeom>
        </p:spPr>
      </p:pic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2176" y="2624328"/>
            <a:ext cx="237744" cy="237744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8503920" y="3429000"/>
            <a:ext cx="1079724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8503920" y="3418027"/>
            <a:ext cx="1079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EXPRESS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8485632" y="37764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Arriving in 32 min</a:t>
            </a:r>
            <a:endParaRPr lang="en-US" sz="1500" dirty="0"/>
          </a:p>
        </p:txBody>
      </p:sp>
      <p:sp>
        <p:nvSpPr>
          <p:cNvPr id="40" name="Text 33"/>
          <p:cNvSpPr/>
          <p:nvPr/>
        </p:nvSpPr>
        <p:spPr>
          <a:xfrm>
            <a:off x="8485632" y="41056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1:06 PM · promised by 1:41 PM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8485632" y="4416552"/>
            <a:ext cx="2276856" cy="16459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485632" y="4416552"/>
            <a:ext cx="1366114" cy="164592"/>
          </a:xfrm>
          <a:prstGeom prst="roundRect">
            <a:avLst>
              <a:gd name="adj" fmla="val 50000"/>
            </a:avLst>
          </a:prstGeom>
          <a:solidFill>
            <a:srgbClr val="E8C766"/>
          </a:solidFill>
          <a:ln w="12700">
            <a:solidFill>
              <a:srgbClr val="E8C766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8485632" y="4636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 up · 1.8 km away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8375904" y="4965192"/>
            <a:ext cx="2496312" cy="822960"/>
          </a:xfrm>
          <a:prstGeom prst="roundRect">
            <a:avLst>
              <a:gd name="adj" fmla="val 11111"/>
            </a:avLst>
          </a:prstGeom>
          <a:solidFill>
            <a:srgbClr val="232327"/>
          </a:solidFill>
          <a:ln w="6350">
            <a:solidFill>
              <a:srgbClr val="34343A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8522208" y="5074920"/>
            <a:ext cx="2203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lunch math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1:00–2:00 · food at 1:38 · 22 min to eat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08087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27080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·  SOLUTION 4 · PHASE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AI Concierge — from craving to cart in one tap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decision fatigue for members whose patterns Zomato already knows.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084832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2 PM. Zomato knows this member lunches now, orders biryani twice a week, spends about ₹200, and needs delivery inside a 35-minute window. Today the app shows 400 restaurants anyway. The Concierge turns that history into one confident suggestion — and a fallback rail of three.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090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3401568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3525012"/>
            <a:ext cx="210312" cy="2103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340156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the member  —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history, time-of-day, budget envelope and delivery-time constraints.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4238244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411480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decision  —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best pick with price and ETA that fit the moment; three alternates behind it.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6928" y="4828032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951476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482803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cheap, then scale  —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Phase-3 per RICE — pilot as a rule-based “your usuals” rail before the ML build.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66928" y="5779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66928" y="6053328"/>
            <a:ext cx="1786372" cy="274320"/>
          </a:xfrm>
          <a:prstGeom prst="roundRect">
            <a:avLst>
              <a:gd name="adj" fmla="val 50000"/>
            </a:avLst>
          </a:prstGeom>
          <a:solidFill>
            <a:srgbClr val="16241E"/>
          </a:solidFill>
          <a:ln w="9525">
            <a:solidFill>
              <a:srgbClr val="25453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66928" y="6042355"/>
            <a:ext cx="17863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TIME-TO-ORDER −40%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2499604" y="6053328"/>
            <a:ext cx="1612270" cy="274320"/>
          </a:xfrm>
          <a:prstGeom prst="roundRect">
            <a:avLst>
              <a:gd name="adj" fmla="val 50000"/>
            </a:avLst>
          </a:prstGeom>
          <a:solidFill>
            <a:srgbClr val="16241E"/>
          </a:solidFill>
          <a:ln w="9525">
            <a:solidFill>
              <a:srgbClr val="25453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499604" y="6042355"/>
            <a:ext cx="16122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 CONV. +12%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258178" y="6053328"/>
            <a:ext cx="1699321" cy="274320"/>
          </a:xfrm>
          <a:prstGeom prst="roundRect">
            <a:avLst>
              <a:gd name="adj" fmla="val 50000"/>
            </a:avLst>
          </a:prstGeom>
          <a:solidFill>
            <a:srgbClr val="16241E"/>
          </a:solidFill>
          <a:ln w="9525">
            <a:solidFill>
              <a:srgbClr val="25453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258178" y="6042355"/>
            <a:ext cx="16993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FC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RATE &gt; 35%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8092440" y="1737360"/>
            <a:ext cx="3063240" cy="4663440"/>
          </a:xfrm>
          <a:prstGeom prst="roundRect">
            <a:avLst>
              <a:gd name="adj" fmla="val 7164"/>
            </a:avLst>
          </a:prstGeom>
          <a:solidFill>
            <a:srgbClr val="0B0B0C"/>
          </a:solidFill>
          <a:ln w="19050">
            <a:solidFill>
              <a:srgbClr val="3E3E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174736" y="1819656"/>
            <a:ext cx="2898648" cy="4498848"/>
          </a:xfrm>
          <a:prstGeom prst="roundRect">
            <a:avLst>
              <a:gd name="adj" fmla="val 5363"/>
            </a:avLst>
          </a:prstGeom>
          <a:solidFill>
            <a:srgbClr val="18181B"/>
          </a:solidFill>
          <a:ln w="6350">
            <a:solidFill>
              <a:srgbClr val="26262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304020" y="1883664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430768" y="2130552"/>
            <a:ext cx="1223101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430768" y="2119579"/>
            <a:ext cx="12231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CONCIERGE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8430768" y="24963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2:04 PM — lunch?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8430768" y="2807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14 past lunches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8375904" y="3118104"/>
            <a:ext cx="2496312" cy="1417320"/>
          </a:xfrm>
          <a:prstGeom prst="roundRect">
            <a:avLst>
              <a:gd name="adj" fmla="val 6452"/>
            </a:avLst>
          </a:prstGeom>
          <a:solidFill>
            <a:srgbClr val="2A241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540496" y="3246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Biryani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8540496" y="35204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Behrouz Biryani · 1.9 km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8540496" y="37764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₹199  ·  arrives 2:36 PM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8540496" y="405079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i="1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your break, your budget and your usual order.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8375904" y="4718304"/>
            <a:ext cx="1312621" cy="457200"/>
          </a:xfrm>
          <a:prstGeom prst="roundRect">
            <a:avLst>
              <a:gd name="adj" fmla="val 50000"/>
            </a:avLst>
          </a:prstGeom>
          <a:solidFill>
            <a:srgbClr val="E8C766"/>
          </a:solidFill>
          <a:ln w="12700">
            <a:solidFill>
              <a:srgbClr val="E8C766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375904" y="4736592"/>
            <a:ext cx="131262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now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9798253" y="4718304"/>
            <a:ext cx="1073963" cy="4572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9798253" y="4736592"/>
            <a:ext cx="10739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more picks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8375904" y="532180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 — history stays on your account.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1417686" cy="274320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1363"/>
            <a:ext cx="14176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· 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looks like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north star — D90 renewal — moved by four bets shipped in three phases.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528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 · RETENTION CASE STUDY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" y="1883664"/>
            <a:ext cx="2267712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→ 38%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68096" y="247436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D90 Gold renewal rate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8096" y="2757830"/>
            <a:ext cx="22677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north-star metric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73736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84448" y="1883664"/>
            <a:ext cx="2267712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→ &lt;30%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84448" y="247436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churn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84448" y="2757830"/>
            <a:ext cx="22677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 problem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99632" y="173736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883664"/>
            <a:ext cx="2267712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→ 4.4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0" y="247436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/ member / month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2757830"/>
            <a:ext cx="22677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formation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15984" y="173736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17152" y="1883664"/>
            <a:ext cx="2267712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→ 60%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217152" y="247436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multi-vertical usage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17152" y="2757830"/>
            <a:ext cx="22677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lock-in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3383280"/>
            <a:ext cx="3639312" cy="1691640"/>
          </a:xfrm>
          <a:prstGeom prst="roundRect">
            <a:avLst>
              <a:gd name="adj" fmla="val 486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3584448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3707892"/>
            <a:ext cx="210312" cy="21031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53312" y="3602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Q3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353312" y="3840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Everywhere + Priority Support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86384" y="42245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Integration-led wins: membership flag across Blinkit &amp; District; Gold support lane live.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352544" y="3383280"/>
            <a:ext cx="3639312" cy="1691640"/>
          </a:xfrm>
          <a:prstGeom prst="roundRect">
            <a:avLst>
              <a:gd name="adj" fmla="val 486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53712" y="3584448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3707892"/>
            <a:ext cx="210312" cy="21031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138928" y="3602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Q4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5138928" y="3840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Express pilot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572000" y="42245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metros, lunch daypart only. Scale on &gt;95% on-time; kill if the promise can't hold.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8138160" y="3383280"/>
            <a:ext cx="3639312" cy="1691640"/>
          </a:xfrm>
          <a:prstGeom prst="roundRect">
            <a:avLst>
              <a:gd name="adj" fmla="val 4865"/>
            </a:avLst>
          </a:prstGeom>
          <a:solidFill>
            <a:srgbClr val="1D1D20"/>
          </a:solidFill>
          <a:ln w="9525">
            <a:solidFill>
              <a:srgbClr val="3434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8339328" y="3584448"/>
            <a:ext cx="457200" cy="457200"/>
          </a:xfrm>
          <a:prstGeom prst="ellipse">
            <a:avLst/>
          </a:prstGeom>
          <a:solidFill>
            <a:srgbClr val="2A2418"/>
          </a:solidFill>
          <a:ln w="9525">
            <a:solidFill>
              <a:srgbClr val="4A3F1E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3707892"/>
            <a:ext cx="210312" cy="21031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924544" y="3602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8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Q1+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8924544" y="3840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Concierge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8357616" y="42245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rule-based “usuals” rail; graduate to ML once acceptance clears 35%.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566928" y="5349240"/>
            <a:ext cx="11027664" cy="1051560"/>
          </a:xfrm>
          <a:prstGeom prst="roundRect">
            <a:avLst>
              <a:gd name="adj" fmla="val 8696"/>
            </a:avLst>
          </a:prstGeom>
          <a:solidFill>
            <a:srgbClr val="2A2418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Text 38"/>
          <p:cNvSpPr/>
          <p:nvPr/>
        </p:nvSpPr>
        <p:spPr>
          <a:xfrm>
            <a:off x="886968" y="5468112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3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shouldn't be a coupon. It should be the reason the app opens.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BD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Team Visionary Vanguards  ·  Abhinav Jain · Aryan Maan · Manit Singh · Mayank Gupta · Soumyadeep Podder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Gold Retention Strategy</dc:title>
  <dc:subject>PptxGenJS Presentation</dc:subject>
  <dc:creator>Aryan Maan</dc:creator>
  <cp:lastModifiedBy>Aryan Maan</cp:lastModifiedBy>
  <cp:revision>1</cp:revision>
  <dcterms:created xsi:type="dcterms:W3CDTF">2026-07-03T00:51:07Z</dcterms:created>
  <dcterms:modified xsi:type="dcterms:W3CDTF">2026-07-03T00:51:07Z</dcterms:modified>
</cp:coreProperties>
</file>